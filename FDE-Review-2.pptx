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904" r:id="rId2"/>
    <p:sldId id="903" r:id="rId3"/>
    <p:sldId id="902" r:id="rId4"/>
    <p:sldId id="905" r:id="rId5"/>
    <p:sldId id="906" r:id="rId6"/>
    <p:sldId id="90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rontiersin.org/journals/digital-health/articles/10.3389/fdgth.2025.1691142/full" TargetMode="External"/><Relationship Id="rId5" Type="http://schemas.openxmlformats.org/officeDocument/2006/relationships/hyperlink" Target="https://pmc.ncbi.nlm.nih.gov/articles/PMC9223495/" TargetMode="External"/><Relationship Id="rId4" Type="http://schemas.openxmlformats.org/officeDocument/2006/relationships/hyperlink" Target="https://pubmed.ncbi.nlm.nih.gov/2012282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7506144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ubmed.ncbi.nlm.nih.gov/39504913/" TargetMode="External"/><Relationship Id="rId4" Type="http://schemas.openxmlformats.org/officeDocument/2006/relationships/hyperlink" Target="https://pubmed.ncbi.nlm.nih.gov/34613409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10068662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jurnal.jejaringppm.org/index.php/jitcsa/article/view/246" TargetMode="External"/><Relationship Id="rId4" Type="http://schemas.openxmlformats.org/officeDocument/2006/relationships/hyperlink" Target="https://pmc.ncbi.nlm.nih.gov/articles/PMC354044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E41A7-996A-81BA-0930-AB611321DAC5}"/>
              </a:ext>
            </a:extLst>
          </p:cNvPr>
          <p:cNvSpPr txBox="1"/>
          <p:nvPr/>
        </p:nvSpPr>
        <p:spPr>
          <a:xfrm>
            <a:off x="669739" y="1637154"/>
            <a:ext cx="10852523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Hospital Data Engineering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46941-D498-C993-2978-B95316EBC85F}"/>
              </a:ext>
            </a:extLst>
          </p:cNvPr>
          <p:cNvSpPr txBox="1"/>
          <p:nvPr/>
        </p:nvSpPr>
        <p:spPr>
          <a:xfrm>
            <a:off x="4089133" y="2971800"/>
            <a:ext cx="398327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Maheshwar Reddy – 2420090020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Sai Shashank – 2420030210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Venkata Sai Charan – 2420030339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DB67C-F582-2575-D6E5-5AB91918D13A}"/>
              </a:ext>
            </a:extLst>
          </p:cNvPr>
          <p:cNvSpPr txBox="1"/>
          <p:nvPr/>
        </p:nvSpPr>
        <p:spPr>
          <a:xfrm>
            <a:off x="1696403" y="697107"/>
            <a:ext cx="87992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2E1F0"/>
                </a:solidFill>
              </a:defRPr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Data Engineering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(24DEA3101)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0D157-FF6C-C235-D141-365298269901}"/>
              </a:ext>
            </a:extLst>
          </p:cNvPr>
          <p:cNvSpPr txBox="1"/>
          <p:nvPr/>
        </p:nvSpPr>
        <p:spPr>
          <a:xfrm>
            <a:off x="3460956" y="4994787"/>
            <a:ext cx="3065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457278A-94C4-4495-13E8-FCC64411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798" y="4566913"/>
            <a:ext cx="43851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1823463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Number:15                                                         Section: 7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 N. Shirisha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66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7" name="Objective Body"/>
          <p:cNvSpPr txBox="1"/>
          <p:nvPr/>
        </p:nvSpPr>
        <p:spPr>
          <a:xfrm>
            <a:off x="800100" y="1300000"/>
            <a:ext cx="10591800" cy="52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Centralized Data Storage: </a:t>
            </a:r>
            <a:r>
              <a:rPr lang="en-US" sz="1800" dirty="0"/>
              <a:t>Integrate healthcare data from multiple hospital departments — patient registration, laboratory, pharmacy, billing, and appointments — into a single data warehouse.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Data Consistency: </a:t>
            </a:r>
            <a:r>
              <a:rPr lang="en-US" sz="1800" dirty="0"/>
              <a:t>Remove duplicate records and standardize healthcare data using ETL (Extract, Transform, Load) processes.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Improved Decision Making: </a:t>
            </a:r>
            <a:r>
              <a:rPr lang="en-US" sz="1800" dirty="0"/>
              <a:t>Enable hospital administrators to generate reports for better operational and financial decisions.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Efficient Data Analysis: </a:t>
            </a:r>
            <a:r>
              <a:rPr lang="en-US" sz="1800" dirty="0"/>
              <a:t>Support analytical queries for patient statistics, doctor performance, hospital occupancy, and revenue analysis.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Historical Data Management: </a:t>
            </a:r>
            <a:r>
              <a:rPr lang="en-US" sz="1800" dirty="0"/>
              <a:t>Store historical healthcare data to support trend analysis and future planning.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Faster Query Performance: </a:t>
            </a:r>
            <a:r>
              <a:rPr lang="en-US" sz="1800" dirty="0"/>
              <a:t>Design the warehouse using a Star Schema to improve query execution and reporting speed.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Business Intelligence Support: </a:t>
            </a:r>
            <a:r>
              <a:rPr lang="en-US" sz="1800" dirty="0"/>
              <a:t>Provide reliable data for dashboards, visualization, and healthcare analytics.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86612"/>
              </p:ext>
            </p:extLst>
          </p:nvPr>
        </p:nvGraphicFramePr>
        <p:xfrm>
          <a:off x="274646" y="576072"/>
          <a:ext cx="11524063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2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28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Drawbacks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Proposed Future Solution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Zhou et al. [3]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Times New Roman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Development of traditional Chinese medicine clinical data warehouse for medical knowledge discovery and decision support, Artificial Intelligence in Medicine, 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Integrated 20,000 inpatient and 20,000 outpatient records; produced 400+ OLAP reports and supported clinical knowledge discovery.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Focused on Traditional Chinese Medicine, so the design is specialized rather than a general multi-department hospital pipeline.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Generalize the pipeline to registration, laboratory, pharmacy, billing and appointments using common ETL and Star Schema.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Bocquet et al. 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sng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The Challenges of Implementing Comprehensive Clinical Data Warehouses in Hospitals, IJERPH,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DW improves research and quality evaluation; governance is critical.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Implementation is resource-intensive and needs sustained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Build a lightweight, modular pipeline using Python, MySQL and automated ETL.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Knezevic Ivanovski et al. [3]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sng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Building a Healthcare Data Warehouse: Considerations, Opportunities, and Challenges, Frontiers in Digital Health,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Centralization and robust ETL support analytics and BI.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No quantitative benchmark of a specific implementation.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Implement the warehouse and measure ETL time, query speed, data quality and scalability.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044238" y="49665"/>
            <a:ext cx="62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 (contd.)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723720"/>
              </p:ext>
            </p:extLst>
          </p:nvPr>
        </p:nvGraphicFramePr>
        <p:xfrm>
          <a:off x="304468" y="519742"/>
          <a:ext cx="11583057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3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3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6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chemeClr val="tx1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Drawbacks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Proposed Future Solution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Denney et al. [4]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Times New Roman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Validating the Extract, Transform, Load Process Used to Populate a Large Clinical Research Database, International Journal of Medical Informatics,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Compared 498 observations; after resolving apparent discrepancies, the repository was found 100% accurate relative to its source EHR systems.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Validation used a limited sample and focused on ETL correctness rather than continuous real-time processing.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Validate larger multi-department datasets and add continuous/near-real-time ingestion with performance and latency measurements.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Visweswaran et al. [5]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Times New Roman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 atomic approach to the design and implementation of a research data warehouse, Journal of the American Medical Informatics Association,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Neptune integrated longitudinal data for more than 5 million patients from EHRs, health plans and research studies.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Designed primarily for research data reuse; it is not a complete real-time operational hospital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Extend the architecture for operational hospital departments and add real-time event ingestion for faster analytics and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Johns et al. [6]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FF0000"/>
                          </a:solidFill>
                          <a:latin typeface="Times New Roman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Tracking provenance in clinical data warehouses for quality management, International Journal of Medical Informatics,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The dashboard identified recurring error patterns and traced them to source data and ETL steps, supporting continuous quality management.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Provenance tracking increased ETL loading time, and evaluation covered three ETL processes in an i2b2 setting.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Optimize provenance overhead and evaluate the approach across larger, multi-department real-time pipelines.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2996000" y="136525"/>
            <a:ext cx="62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 (contd.)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778437"/>
              </p:ext>
            </p:extLst>
          </p:nvPr>
        </p:nvGraphicFramePr>
        <p:xfrm>
          <a:off x="274646" y="576072"/>
          <a:ext cx="11730541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3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Drawbacks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Proposed Future Solution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Lamer et al. [7]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sng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Development and Usage of an Anesthesia Data Warehouse: Lessons Learnt from a 10-Year Project, J. Clinical Monitoring and Computing,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Large-scale data integration and OMOP mapping supported reuse.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Single-institution results may not generalize to smaller hospitals.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Design a scalable architecture that can work across different hospital sizes.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Evans et al. 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sng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Clinical Use of an Enterprise Data Warehouse, AMIA Annual Symposium Proceedings,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Supported strategic and patient-specific decision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Based on one large health system.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Develop a simpler, lower-cost version suitable for small and medium hospitals.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39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Ngon [9]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sng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Healthcare Data Integration Through Enterprise Data Warehousing: Architecture, Conformance Pipeline, and Experimental Validation for Readmission Analytics, IJITCSA,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Improved data quality; warehouse data was analytics-ready.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Times New Roman"/>
                        </a:rPr>
                        <a:t>Validated mainly for one readmission use case.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Extend analytics to occupancy, billing, pharmacy, laboratory and doctor performance.</a:t>
                      </a:r>
                    </a:p>
                  </a:txBody>
                  <a:tcPr>
                    <a:solidFill>
                      <a:srgbClr val="D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B60CA4-CBA1-C836-6707-7E4404F27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4" b="10667"/>
          <a:stretch>
            <a:fillRect/>
          </a:stretch>
        </p:blipFill>
        <p:spPr>
          <a:xfrm>
            <a:off x="60647" y="0"/>
            <a:ext cx="12142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Proposed Method</a:t>
            </a:r>
          </a:p>
        </p:txBody>
      </p:sp>
      <p:sp>
        <p:nvSpPr>
          <p:cNvPr id="7" name="Proposed Method Body"/>
          <p:cNvSpPr txBox="1"/>
          <p:nvPr/>
        </p:nvSpPr>
        <p:spPr>
          <a:xfrm>
            <a:off x="800100" y="1400000"/>
            <a:ext cx="105918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Data Collection: </a:t>
            </a:r>
            <a:r>
              <a:rPr lang="en-US" sz="1800" dirty="0"/>
              <a:t>Gather healthcare data from patient registration, laboratory, pharmacy, billing, and appointment systems across hospital departments.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Extraction: </a:t>
            </a:r>
            <a:r>
              <a:rPr lang="en-US" sz="1800" dirty="0"/>
              <a:t>Extract operational data from these different source databases into a staging area.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Cleaning &amp; Transformation: </a:t>
            </a:r>
            <a:r>
              <a:rPr lang="en-US" sz="1800" dirty="0"/>
              <a:t>Clean inconsistent records, remove duplicate entries, handle missing values, and transform data into a standardized format using ETL techniques.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Loading: </a:t>
            </a:r>
            <a:r>
              <a:rPr lang="en-US" sz="1800" dirty="0"/>
              <a:t>Load the transformed data into the centralized Hospital Data Warehouse.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Dimensional Modeling: </a:t>
            </a:r>
            <a:r>
              <a:rPr lang="en-US" sz="1800" dirty="0"/>
              <a:t>Design the warehouse using a Star Schema consisting of Fact tables (patient visits, billing, lab tests, pharmacy sales) and Dimension tables (patient, doctor, department, time, disease, medication, hospital branch).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lang="en-US" sz="1800" b="1" dirty="0"/>
              <a:t>Analysis &amp; Reporting: </a:t>
            </a:r>
            <a:r>
              <a:rPr lang="en-US" sz="1800" dirty="0"/>
              <a:t>Execute SQL queries on the warehouse to generate reports and analytical insights for hospital administrators.</a:t>
            </a:r>
          </a:p>
          <a:p>
            <a:pPr mar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1600" i="1" dirty="0"/>
              <a:t>Flow: Hospital Systems → Extract → Clean &amp; Transform (ETL) → Star Schema Warehouse → SQL Queries / Reports → Decision Making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1021</Words>
  <Application>Microsoft Office PowerPoint</Application>
  <PresentationFormat>Widescreen</PresentationFormat>
  <Paragraphs>92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Maheshwar Reddy</cp:lastModifiedBy>
  <cp:revision>41</cp:revision>
  <dcterms:created xsi:type="dcterms:W3CDTF">2026-08-08T06:33:56Z</dcterms:created>
  <dcterms:modified xsi:type="dcterms:W3CDTF">2026-08-26T04:12:02Z</dcterms:modified>
</cp:coreProperties>
</file>