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70" r:id="rId5"/>
    <p:sldId id="903" r:id="rId6"/>
    <p:sldId id="272" r:id="rId7"/>
    <p:sldId id="266" r:id="rId8"/>
    <p:sldId id="267" r:id="rId9"/>
    <p:sldId id="268"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snapToObjects="1">
      <p:cViewPr varScale="1">
        <p:scale>
          <a:sx n="78" d="100"/>
          <a:sy n="78" d="100"/>
        </p:scale>
        <p:origin x="71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2CEB57-D851-4931-B0C4-E217BB99CF66}" type="datetimeFigureOut">
              <a:rPr lang="en-US" smtClean="0"/>
              <a:t>05-Sep-26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A8885-239C-4650-8BD0-10315336EED2}" type="slidenum">
              <a:rPr lang="en-US" smtClean="0"/>
              <a:t>‹#›</a:t>
            </a:fld>
            <a:endParaRPr lang="en-US"/>
          </a:p>
        </p:txBody>
      </p:sp>
    </p:spTree>
    <p:extLst>
      <p:ext uri="{BB962C8B-B14F-4D97-AF65-F5344CB8AC3E}">
        <p14:creationId xmlns:p14="http://schemas.microsoft.com/office/powerpoint/2010/main" val="589612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05-Sep-26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05-Sep-26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05-Sep-26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05-Sep-26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05-Sep-26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05-Sep-26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05-Sep-26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05-Sep-26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05-Sep-26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05-Sep-26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05-Sep-26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05-Sep-26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669739" y="1637154"/>
            <a:ext cx="10852523" cy="738664"/>
          </a:xfrm>
          <a:prstGeom prst="rect">
            <a:avLst/>
          </a:prstGeom>
          <a:noFill/>
        </p:spPr>
        <p:txBody>
          <a:bodyPr wrap="none">
            <a:spAutoFit/>
          </a:bodyPr>
          <a:lstStyle/>
          <a:p>
            <a:pPr algn="ctr">
              <a:defRPr sz="4200" b="1">
                <a:solidFill>
                  <a:srgbClr val="FFFFFF"/>
                </a:solidFill>
              </a:defRPr>
            </a:pPr>
            <a:r>
              <a:rPr lang="en-US" sz="4200" b="1" dirty="0">
                <a:latin typeface="Times New Roman" panose="02020603050405020304" pitchFamily="18" charset="0"/>
                <a:cs typeface="Times New Roman" panose="02020603050405020304" pitchFamily="18" charset="0"/>
              </a:rPr>
              <a:t>Real-Time Hospital Data Engineering Pipeline</a:t>
            </a:r>
          </a:p>
        </p:txBody>
      </p:sp>
      <p:sp>
        <p:nvSpPr>
          <p:cNvPr id="3" name="TextBox 2"/>
          <p:cNvSpPr txBox="1"/>
          <p:nvPr/>
        </p:nvSpPr>
        <p:spPr>
          <a:xfrm>
            <a:off x="4089133" y="2971800"/>
            <a:ext cx="3983270" cy="1323439"/>
          </a:xfrm>
          <a:prstGeom prst="rect">
            <a:avLst/>
          </a:prstGeom>
          <a:noFill/>
        </p:spPr>
        <p:txBody>
          <a:bodyPr wrap="none">
            <a:spAutoFit/>
          </a:bodyPr>
          <a:lstStyle/>
          <a:p>
            <a:pPr algn="ctr">
              <a:defRPr sz="2000">
                <a:solidFill>
                  <a:srgbClr val="FFFFFF"/>
                </a:solidFill>
              </a:defRPr>
            </a:pPr>
            <a:r>
              <a:rPr lang="en-US" dirty="0">
                <a:latin typeface="Times New Roman" panose="02020603050405020304" pitchFamily="18" charset="0"/>
                <a:cs typeface="Times New Roman" panose="02020603050405020304" pitchFamily="18" charset="0"/>
              </a:rPr>
              <a:t>Team members</a:t>
            </a:r>
          </a:p>
          <a:p>
            <a:pPr algn="ctr">
              <a:defRPr sz="2000">
                <a:solidFill>
                  <a:srgbClr val="FFFFFF"/>
                </a:solidFill>
              </a:defRPr>
            </a:pPr>
            <a:r>
              <a:rPr lang="en-US" dirty="0">
                <a:latin typeface="Times New Roman" panose="02020603050405020304" pitchFamily="18" charset="0"/>
                <a:cs typeface="Times New Roman" panose="02020603050405020304" pitchFamily="18" charset="0"/>
              </a:rPr>
              <a:t>K. Maheshwar Reddy – 2420090020</a:t>
            </a:r>
          </a:p>
          <a:p>
            <a:pPr algn="ctr">
              <a:defRPr sz="2000">
                <a:solidFill>
                  <a:srgbClr val="FFFFFF"/>
                </a:solidFill>
              </a:defRPr>
            </a:pPr>
            <a:r>
              <a:rPr lang="en-US" dirty="0">
                <a:latin typeface="Times New Roman" panose="02020603050405020304" pitchFamily="18" charset="0"/>
                <a:cs typeface="Times New Roman" panose="02020603050405020304" pitchFamily="18" charset="0"/>
              </a:rPr>
              <a:t>M. Sai Shashank – 2420030210</a:t>
            </a:r>
          </a:p>
          <a:p>
            <a:pPr algn="ctr">
              <a:defRPr sz="2000">
                <a:solidFill>
                  <a:srgbClr val="FFFFFF"/>
                </a:solidFill>
              </a:defRPr>
            </a:pPr>
            <a:r>
              <a:rPr lang="en-US" dirty="0">
                <a:latin typeface="Times New Roman" panose="02020603050405020304" pitchFamily="18" charset="0"/>
                <a:cs typeface="Times New Roman" panose="02020603050405020304" pitchFamily="18" charset="0"/>
              </a:rPr>
              <a:t>P. Venkata Sai Charan – 2420030339</a:t>
            </a:r>
          </a:p>
        </p:txBody>
      </p:sp>
      <p:sp>
        <p:nvSpPr>
          <p:cNvPr id="4" name="TextBox 3"/>
          <p:cNvSpPr txBox="1"/>
          <p:nvPr/>
        </p:nvSpPr>
        <p:spPr>
          <a:xfrm>
            <a:off x="1696403" y="697107"/>
            <a:ext cx="8799204" cy="584775"/>
          </a:xfrm>
          <a:prstGeom prst="rect">
            <a:avLst/>
          </a:prstGeom>
          <a:noFill/>
        </p:spPr>
        <p:txBody>
          <a:bodyPr wrap="none">
            <a:spAutoFit/>
          </a:bodyPr>
          <a:lstStyle/>
          <a:p>
            <a:pPr algn="ctr">
              <a:defRPr sz="1800">
                <a:solidFill>
                  <a:srgbClr val="D2E1F0"/>
                </a:solidFill>
              </a:defRPr>
            </a:pPr>
            <a:r>
              <a:rPr sz="3200" b="1" dirty="0">
                <a:solidFill>
                  <a:srgbClr val="FF0000"/>
                </a:solidFill>
                <a:latin typeface="Times New Roman" panose="02020603050405020304" pitchFamily="18" charset="0"/>
                <a:cs typeface="Times New Roman" panose="02020603050405020304" pitchFamily="18" charset="0"/>
              </a:rPr>
              <a:t>Fundamentals of Data Engineering </a:t>
            </a:r>
            <a:r>
              <a:rPr lang="en-US" sz="3200" b="1" dirty="0">
                <a:solidFill>
                  <a:srgbClr val="FF0000"/>
                </a:solidFill>
                <a:latin typeface="Times New Roman" panose="02020603050405020304" pitchFamily="18" charset="0"/>
                <a:cs typeface="Times New Roman" panose="02020603050405020304" pitchFamily="18" charset="0"/>
              </a:rPr>
              <a:t>(24DEA3101)</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3294184-3A61-BDE0-6F13-F9D8BB929F3C}"/>
              </a:ext>
            </a:extLst>
          </p:cNvPr>
          <p:cNvSpPr txBox="1"/>
          <p:nvPr/>
        </p:nvSpPr>
        <p:spPr>
          <a:xfrm>
            <a:off x="3460956" y="4994787"/>
            <a:ext cx="3065582"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01502D5F-A827-E75E-88EE-B2F1087D3890}"/>
              </a:ext>
            </a:extLst>
          </p:cNvPr>
          <p:cNvSpPr>
            <a:spLocks noChangeArrowheads="1"/>
          </p:cNvSpPr>
          <p:nvPr/>
        </p:nvSpPr>
        <p:spPr bwMode="auto">
          <a:xfrm>
            <a:off x="4876798" y="4413025"/>
            <a:ext cx="4385189"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1823463"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Group Number:15                                                         Section: 7</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Under the guidance of</a:t>
            </a:r>
          </a:p>
          <a:p>
            <a:pPr lvl="0" algn="ctr" defTabSz="914400" eaLnBrk="0" fontAlgn="base" hangingPunct="0">
              <a:spcBef>
                <a:spcPct val="0"/>
              </a:spcBef>
              <a:spcAft>
                <a:spcPct val="0"/>
              </a:spcAft>
            </a:pPr>
            <a:r>
              <a:rPr lang="en-US" altLang="en-US"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Dr. N. Shirisha</a:t>
            </a:r>
          </a:p>
          <a:p>
            <a:pPr lvl="0" algn="ctr" defTabSz="914400" eaLnBrk="0" fontAlgn="base" hangingPunct="0">
              <a:spcBef>
                <a:spcPct val="0"/>
              </a:spcBef>
              <a:spcAft>
                <a:spcPct val="0"/>
              </a:spcAft>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Assistant Professor</a:t>
            </a:r>
          </a:p>
        </p:txBody>
      </p:sp>
      <p:sp>
        <p:nvSpPr>
          <p:cNvPr id="7" name="Rectangle 3">
            <a:extLst>
              <a:ext uri="{FF2B5EF4-FFF2-40B4-BE49-F238E27FC236}">
                <a16:creationId xmlns:a16="http://schemas.microsoft.com/office/drawing/2014/main" id="{BAD20C70-4C94-5923-BC51-EFD765EE7C3A}"/>
              </a:ext>
            </a:extLst>
          </p:cNvPr>
          <p:cNvSpPr>
            <a:spLocks noChangeArrowheads="1"/>
          </p:cNvSpPr>
          <p:nvPr/>
        </p:nvSpPr>
        <p:spPr bwMode="auto">
          <a:xfrm>
            <a:off x="0" y="87868"/>
            <a:ext cx="110799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339295" cy="646331"/>
          </a:xfrm>
          <a:prstGeom prst="rect">
            <a:avLst/>
          </a:prstGeom>
          <a:noFill/>
        </p:spPr>
        <p:txBody>
          <a:bodyPr wrap="none">
            <a:spAutoFit/>
          </a:bodyPr>
          <a:lstStyle/>
          <a:p>
            <a:pPr>
              <a:defRPr sz="2800" b="1">
                <a:solidFill>
                  <a:srgbClr val="192D4B"/>
                </a:solidFill>
              </a:defRPr>
            </a:pPr>
            <a:r>
              <a:rPr sz="3600" dirty="0">
                <a:latin typeface="Times New Roman" panose="02020603050405020304" pitchFamily="18" charset="0"/>
                <a:cs typeface="Times New Roman" panose="02020603050405020304" pitchFamily="18" charset="0"/>
              </a:rPr>
              <a:t>1. </a:t>
            </a:r>
            <a:r>
              <a:rPr lang="en-US" sz="3600" dirty="0">
                <a:latin typeface="Times New Roman" panose="02020603050405020304" pitchFamily="18" charset="0"/>
                <a:cs typeface="Times New Roman" panose="02020603050405020304" pitchFamily="18" charset="0"/>
              </a:rPr>
              <a:t>Abstract</a:t>
            </a:r>
            <a:endParaRPr sz="3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98789" y="1147920"/>
            <a:ext cx="10515600" cy="440120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focuses on designing and implementing a Hospital Data Warehouse to efficiently manage and analyze healthcare data collected from various hospital departments.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integrates data from patient registration, doctor consultations, laboratory reports, pharmacy, billing, and appointment systems into a centralized repository.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data is extracted from multiple sources, transformed into a consistent format, and loaded into the warehouse using the ETL (Extract, Transform, Load) process.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warehouse is designed using dimensional modeling techniques such as Star Schema to support efficient storage and analytical processing.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mechanism provides accurate and reliable healthcare information, assisting hospital administrators in decision-making, monitoring hospital performance, and improving patient care.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highlights key Fundamentals of Data Engineering concepts such as data integration, ETL pipelines, data warehousing, data modeling, data quality, and query optimization, providing practical understanding of how healthcare organizations manage and analyze large volumes of operational data.</a:t>
            </a:r>
          </a:p>
        </p:txBody>
      </p:sp>
      <p:sp>
        <p:nvSpPr>
          <p:cNvPr id="5" name="Rectangle 4"/>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11461946" y="6446520"/>
            <a:ext cx="242374"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4329327" cy="646331"/>
          </a:xfrm>
          <a:prstGeom prst="rect">
            <a:avLst/>
          </a:prstGeom>
          <a:noFill/>
        </p:spPr>
        <p:txBody>
          <a:bodyPr wrap="none">
            <a:spAutoFit/>
          </a:bodyPr>
          <a:lstStyle/>
          <a:p>
            <a:pPr>
              <a:defRPr sz="2800" b="1">
                <a:solidFill>
                  <a:srgbClr val="192D4B"/>
                </a:solidFill>
              </a:defRPr>
            </a:pPr>
            <a:r>
              <a:rPr sz="3600" dirty="0">
                <a:latin typeface="Times New Roman" panose="02020603050405020304" pitchFamily="18" charset="0"/>
                <a:cs typeface="Times New Roman" panose="02020603050405020304" pitchFamily="18" charset="0"/>
              </a:rPr>
              <a:t>2. </a:t>
            </a:r>
            <a:r>
              <a:rPr lang="en-IN" sz="3600" b="1" dirty="0">
                <a:latin typeface="Times New Roman" panose="02020603050405020304" pitchFamily="18" charset="0"/>
                <a:cs typeface="Times New Roman" panose="02020603050405020304" pitchFamily="18" charset="0"/>
              </a:rPr>
              <a:t>Problem statement</a:t>
            </a:r>
            <a:endParaRPr lang="en-US" sz="36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22960" y="1234440"/>
            <a:ext cx="10515600" cy="3108543"/>
          </a:xfrm>
          <a:prstGeom prst="rect">
            <a:avLst/>
          </a:prstGeom>
          <a:noFill/>
        </p:spPr>
        <p:txBody>
          <a:bodyPr wrap="square">
            <a:spAutoFit/>
          </a:bodyPr>
          <a:lstStyle/>
          <a:p>
            <a:pPr marL="342900" indent="-342900">
              <a:spcAft>
                <a:spcPts val="1000"/>
              </a:spcAft>
              <a:buFont typeface="Arial" panose="020B0604020202020204" pitchFamily="34" charset="0"/>
              <a:buChar char="•"/>
              <a:defRPr sz="1900" b="0">
                <a:solidFill>
                  <a:srgbClr val="23282D"/>
                </a:solidFill>
              </a:defRPr>
            </a:pPr>
            <a:r>
              <a:rPr lang="en-US" sz="1900" dirty="0">
                <a:latin typeface="Times New Roman" panose="02020603050405020304" pitchFamily="18" charset="0"/>
                <a:cs typeface="Times New Roman" panose="02020603050405020304" pitchFamily="18" charset="0"/>
              </a:rPr>
              <a:t>In many hospitals, healthcare data is stored separately across different departments such as patient registration, laboratory, pharmacy, billing, and appointments. </a:t>
            </a:r>
          </a:p>
          <a:p>
            <a:pPr marL="342900" indent="-342900">
              <a:spcAft>
                <a:spcPts val="1000"/>
              </a:spcAft>
              <a:buFont typeface="Arial" panose="020B0604020202020204" pitchFamily="34" charset="0"/>
              <a:buChar char="•"/>
              <a:defRPr sz="1900" b="0">
                <a:solidFill>
                  <a:srgbClr val="23282D"/>
                </a:solidFill>
              </a:defRPr>
            </a:pPr>
            <a:r>
              <a:rPr lang="en-US" sz="1900" dirty="0">
                <a:latin typeface="Times New Roman" panose="02020603050405020304" pitchFamily="18" charset="0"/>
                <a:cs typeface="Times New Roman" panose="02020603050405020304" pitchFamily="18" charset="0"/>
              </a:rPr>
              <a:t>This fragmented storage makes it difficult to access complete patient information and generate accurate reports. </a:t>
            </a:r>
          </a:p>
          <a:p>
            <a:pPr marL="342900" indent="-342900">
              <a:spcAft>
                <a:spcPts val="1000"/>
              </a:spcAft>
              <a:buFont typeface="Arial" panose="020B0604020202020204" pitchFamily="34" charset="0"/>
              <a:buChar char="•"/>
              <a:defRPr sz="1900" b="0">
                <a:solidFill>
                  <a:srgbClr val="23282D"/>
                </a:solidFill>
              </a:defRPr>
            </a:pPr>
            <a:r>
              <a:rPr lang="en-US" sz="1900" dirty="0">
                <a:latin typeface="Times New Roman" panose="02020603050405020304" pitchFamily="18" charset="0"/>
                <a:cs typeface="Times New Roman" panose="02020603050405020304" pitchFamily="18" charset="0"/>
              </a:rPr>
              <a:t>Data inconsistency, duplication, and lack of centralized storage reduce the efficiency of decision-making and hospital management. </a:t>
            </a:r>
          </a:p>
          <a:p>
            <a:pPr marL="342900" indent="-342900">
              <a:spcAft>
                <a:spcPts val="1000"/>
              </a:spcAft>
              <a:buFont typeface="Arial" panose="020B0604020202020204" pitchFamily="34" charset="0"/>
              <a:buChar char="•"/>
              <a:defRPr sz="1900" b="0">
                <a:solidFill>
                  <a:srgbClr val="23282D"/>
                </a:solidFill>
              </a:defRPr>
            </a:pPr>
            <a:r>
              <a:rPr lang="en-US" sz="1900" dirty="0">
                <a:latin typeface="Times New Roman" panose="02020603050405020304" pitchFamily="18" charset="0"/>
                <a:cs typeface="Times New Roman" panose="02020603050405020304" pitchFamily="18" charset="0"/>
              </a:rPr>
              <a:t>To address this issue, a Hospital Data Warehouse is designed to integrate data from multiple sources into a single repository, enabling efficient analysis, reporting, and business intelligence for healthcare operations</a:t>
            </a:r>
            <a:endParaRPr dirty="0">
              <a:latin typeface="Times New Roman" panose="02020603050405020304" pitchFamily="18" charset="0"/>
              <a:cs typeface="Times New Roman" panose="02020603050405020304" pitchFamily="18" charset="0"/>
            </a:endParaRPr>
          </a:p>
        </p:txBody>
      </p:sp>
      <p:sp>
        <p:nvSpPr>
          <p:cNvPr id="4" name="Rectangle 3"/>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11461946" y="6446520"/>
            <a:ext cx="242374"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4D27-A924-E68B-AAD8-6AF0A6EEAB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8D9D75-B1DE-7B88-E3DF-877D2E971D78}"/>
              </a:ext>
            </a:extLst>
          </p:cNvPr>
          <p:cNvSpPr txBox="1"/>
          <p:nvPr/>
        </p:nvSpPr>
        <p:spPr>
          <a:xfrm>
            <a:off x="594360" y="320040"/>
            <a:ext cx="2723823" cy="646331"/>
          </a:xfrm>
          <a:prstGeom prst="rect">
            <a:avLst/>
          </a:prstGeom>
          <a:noFill/>
        </p:spPr>
        <p:txBody>
          <a:bodyPr wrap="none">
            <a:spAutoFit/>
          </a:bodyPr>
          <a:lstStyle/>
          <a:p>
            <a:pPr>
              <a:defRPr sz="2800" b="1">
                <a:solidFill>
                  <a:srgbClr val="192D4B"/>
                </a:solidFill>
              </a:defRPr>
            </a:pPr>
            <a:r>
              <a:rPr lang="en-US" sz="3600" dirty="0">
                <a:latin typeface="Times New Roman" panose="02020603050405020304" pitchFamily="18" charset="0"/>
                <a:cs typeface="Times New Roman" panose="02020603050405020304" pitchFamily="18" charset="0"/>
              </a:rPr>
              <a:t>3</a:t>
            </a:r>
            <a:r>
              <a:rPr sz="3600"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Objectives</a:t>
            </a:r>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B8657EA-1479-B9CB-5630-9F93EAD2402A}"/>
              </a:ext>
            </a:extLst>
          </p:cNvPr>
          <p:cNvSpPr txBox="1"/>
          <p:nvPr/>
        </p:nvSpPr>
        <p:spPr>
          <a:xfrm>
            <a:off x="822960" y="1234440"/>
            <a:ext cx="10515600"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1. Centralized Data Storage</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Integrate healthcare data from multiple hospital departments into a single data warehouse. </a:t>
            </a:r>
          </a:p>
          <a:p>
            <a:r>
              <a:rPr lang="en-US" b="1" dirty="0">
                <a:latin typeface="Times New Roman" panose="02020603050405020304" pitchFamily="18" charset="0"/>
                <a:cs typeface="Times New Roman" panose="02020603050405020304" pitchFamily="18" charset="0"/>
              </a:rPr>
              <a:t>2. Data Consistency</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Remove duplicate records and standardize healthcare data using ETL processes. </a:t>
            </a:r>
          </a:p>
          <a:p>
            <a:r>
              <a:rPr lang="en-US" b="1" dirty="0">
                <a:latin typeface="Times New Roman" panose="02020603050405020304" pitchFamily="18" charset="0"/>
                <a:cs typeface="Times New Roman" panose="02020603050405020304" pitchFamily="18" charset="0"/>
              </a:rPr>
              <a:t>3. Improved Decision Making</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Enable hospital administrators to generate reports for better operational and financial decisions. </a:t>
            </a:r>
          </a:p>
          <a:p>
            <a:r>
              <a:rPr lang="en-US" b="1" dirty="0">
                <a:latin typeface="Times New Roman" panose="02020603050405020304" pitchFamily="18" charset="0"/>
                <a:cs typeface="Times New Roman" panose="02020603050405020304" pitchFamily="18" charset="0"/>
              </a:rPr>
              <a:t>4. Efficient Data Analysis</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Support analytical queries for patient statistics, doctor performance, hospital occupancy, and revenue analysis. </a:t>
            </a:r>
          </a:p>
          <a:p>
            <a:r>
              <a:rPr lang="en-US" b="1" dirty="0">
                <a:latin typeface="Times New Roman" panose="02020603050405020304" pitchFamily="18" charset="0"/>
                <a:cs typeface="Times New Roman" panose="02020603050405020304" pitchFamily="18" charset="0"/>
              </a:rPr>
              <a:t>5. Historical Data Management</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Store historical healthcare data for trend analysis and future planning. </a:t>
            </a:r>
          </a:p>
          <a:p>
            <a:r>
              <a:rPr lang="en-US" b="1" dirty="0">
                <a:latin typeface="Times New Roman" panose="02020603050405020304" pitchFamily="18" charset="0"/>
                <a:cs typeface="Times New Roman" panose="02020603050405020304" pitchFamily="18" charset="0"/>
              </a:rPr>
              <a:t>6. Faster Query Performance</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Design the warehouse using Star Schema to improve query execution and reporting speed. </a:t>
            </a:r>
          </a:p>
          <a:p>
            <a:r>
              <a:rPr lang="en-US" b="1" dirty="0">
                <a:latin typeface="Times New Roman" panose="02020603050405020304" pitchFamily="18" charset="0"/>
                <a:cs typeface="Times New Roman" panose="02020603050405020304" pitchFamily="18" charset="0"/>
              </a:rPr>
              <a:t>7. Business Intelligence Support</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Provide reliable data for dashboards, visualization, and healthcare analytics. </a:t>
            </a:r>
          </a:p>
        </p:txBody>
      </p:sp>
      <p:sp>
        <p:nvSpPr>
          <p:cNvPr id="4" name="Rectangle 3">
            <a:extLst>
              <a:ext uri="{FF2B5EF4-FFF2-40B4-BE49-F238E27FC236}">
                <a16:creationId xmlns:a16="http://schemas.microsoft.com/office/drawing/2014/main" id="{56E9996C-1688-18A2-E1D0-6118F7DE0491}"/>
              </a:ext>
            </a:extLst>
          </p:cNvPr>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D3235DA-41CD-9CBE-8A24-B8F5022112C3}"/>
              </a:ext>
            </a:extLst>
          </p:cNvPr>
          <p:cNvSpPr txBox="1"/>
          <p:nvPr/>
        </p:nvSpPr>
        <p:spPr>
          <a:xfrm>
            <a:off x="11461946" y="6446520"/>
            <a:ext cx="242374"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1045614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Proposed Method</a:t>
            </a:r>
          </a:p>
        </p:txBody>
      </p:sp>
      <p:sp>
        <p:nvSpPr>
          <p:cNvPr id="7" name="Proposed Method Body"/>
          <p:cNvSpPr txBox="1"/>
          <p:nvPr/>
        </p:nvSpPr>
        <p:spPr>
          <a:xfrm>
            <a:off x="800100" y="1400000"/>
            <a:ext cx="10591800" cy="5100000"/>
          </a:xfrm>
          <a:prstGeom prst="rect">
            <a:avLst/>
          </a:prstGeom>
          <a:noFill/>
        </p:spPr>
        <p:txBody>
          <a:bodyPr wrap="square">
            <a:normAutofit/>
          </a:bodyPr>
          <a:lstStyle/>
          <a:p>
            <a:pPr marL="285750" indent="-285750" algn="l">
              <a:lnSpc>
                <a:spcPct val="100000"/>
              </a:lnSpc>
              <a:spcAft>
                <a:spcPts val="1400"/>
              </a:spcAft>
              <a:buFont typeface="Arial" pitchFamily="34" charset="0"/>
              <a:buChar char="•"/>
            </a:pPr>
            <a:r>
              <a:rPr lang="en-US" sz="1800" b="1" dirty="0">
                <a:latin typeface="Times New Roman" panose="02020603050405020304" pitchFamily="18" charset="0"/>
                <a:cs typeface="Times New Roman" panose="02020603050405020304" pitchFamily="18" charset="0"/>
              </a:rPr>
              <a:t>Data Collection: </a:t>
            </a:r>
            <a:r>
              <a:rPr lang="en-US" sz="1800" dirty="0">
                <a:latin typeface="Times New Roman" panose="02020603050405020304" pitchFamily="18" charset="0"/>
                <a:cs typeface="Times New Roman" panose="02020603050405020304" pitchFamily="18" charset="0"/>
              </a:rPr>
              <a:t>Gather healthcare data from patient registration, laboratory, pharmacy, billing, and appointment systems across hospital departments.</a:t>
            </a:r>
          </a:p>
          <a:p>
            <a:pPr marL="285750" indent="-285750" algn="l">
              <a:lnSpc>
                <a:spcPct val="100000"/>
              </a:lnSpc>
              <a:spcAft>
                <a:spcPts val="1400"/>
              </a:spcAft>
              <a:buFont typeface="Arial" pitchFamily="34" charset="0"/>
              <a:buChar char="•"/>
            </a:pPr>
            <a:r>
              <a:rPr lang="en-US" sz="1800" b="1" dirty="0">
                <a:latin typeface="Times New Roman" panose="02020603050405020304" pitchFamily="18" charset="0"/>
                <a:cs typeface="Times New Roman" panose="02020603050405020304" pitchFamily="18" charset="0"/>
              </a:rPr>
              <a:t>Extraction: </a:t>
            </a:r>
            <a:r>
              <a:rPr lang="en-US" sz="1800" dirty="0">
                <a:latin typeface="Times New Roman" panose="02020603050405020304" pitchFamily="18" charset="0"/>
                <a:cs typeface="Times New Roman" panose="02020603050405020304" pitchFamily="18" charset="0"/>
              </a:rPr>
              <a:t>Extract operational data from these different source databases into a staging area.</a:t>
            </a:r>
          </a:p>
          <a:p>
            <a:pPr marL="285750" indent="-285750" algn="l">
              <a:lnSpc>
                <a:spcPct val="100000"/>
              </a:lnSpc>
              <a:spcAft>
                <a:spcPts val="1400"/>
              </a:spcAft>
              <a:buFont typeface="Arial" pitchFamily="34" charset="0"/>
              <a:buChar char="•"/>
            </a:pPr>
            <a:r>
              <a:rPr lang="en-US" sz="1800" b="1" dirty="0">
                <a:latin typeface="Times New Roman" panose="02020603050405020304" pitchFamily="18" charset="0"/>
                <a:cs typeface="Times New Roman" panose="02020603050405020304" pitchFamily="18" charset="0"/>
              </a:rPr>
              <a:t>Cleaning &amp; Transformation: </a:t>
            </a:r>
            <a:r>
              <a:rPr lang="en-US" sz="1800" dirty="0">
                <a:latin typeface="Times New Roman" panose="02020603050405020304" pitchFamily="18" charset="0"/>
                <a:cs typeface="Times New Roman" panose="02020603050405020304" pitchFamily="18" charset="0"/>
              </a:rPr>
              <a:t>Clean inconsistent records, remove duplicate entries, handle missing values, and transform data into a standardized format using ETL techniques.</a:t>
            </a:r>
          </a:p>
          <a:p>
            <a:pPr marL="285750" indent="-285750" algn="l">
              <a:lnSpc>
                <a:spcPct val="100000"/>
              </a:lnSpc>
              <a:spcAft>
                <a:spcPts val="1400"/>
              </a:spcAft>
              <a:buFont typeface="Arial" pitchFamily="34" charset="0"/>
              <a:buChar char="•"/>
            </a:pPr>
            <a:r>
              <a:rPr lang="en-US" sz="1800" b="1" dirty="0">
                <a:latin typeface="Times New Roman" panose="02020603050405020304" pitchFamily="18" charset="0"/>
                <a:cs typeface="Times New Roman" panose="02020603050405020304" pitchFamily="18" charset="0"/>
              </a:rPr>
              <a:t>Loading: </a:t>
            </a:r>
            <a:r>
              <a:rPr lang="en-US" sz="1800" dirty="0">
                <a:latin typeface="Times New Roman" panose="02020603050405020304" pitchFamily="18" charset="0"/>
                <a:cs typeface="Times New Roman" panose="02020603050405020304" pitchFamily="18" charset="0"/>
              </a:rPr>
              <a:t>Load the transformed data into the centralized Hospital Data Warehouse.</a:t>
            </a:r>
          </a:p>
          <a:p>
            <a:pPr marL="285750" indent="-285750" algn="l">
              <a:lnSpc>
                <a:spcPct val="100000"/>
              </a:lnSpc>
              <a:spcAft>
                <a:spcPts val="1400"/>
              </a:spcAft>
              <a:buFont typeface="Arial" pitchFamily="34" charset="0"/>
              <a:buChar char="•"/>
            </a:pPr>
            <a:r>
              <a:rPr lang="en-US" sz="1800" b="1" dirty="0">
                <a:latin typeface="Times New Roman" panose="02020603050405020304" pitchFamily="18" charset="0"/>
                <a:cs typeface="Times New Roman" panose="02020603050405020304" pitchFamily="18" charset="0"/>
              </a:rPr>
              <a:t>Dimensional Modeling: </a:t>
            </a:r>
            <a:r>
              <a:rPr lang="en-US" sz="1800" dirty="0">
                <a:latin typeface="Times New Roman" panose="02020603050405020304" pitchFamily="18" charset="0"/>
                <a:cs typeface="Times New Roman" panose="02020603050405020304" pitchFamily="18" charset="0"/>
              </a:rPr>
              <a:t>Design the warehouse using a Star Schema consisting of Fact tables (patient visits, billing, lab tests, pharmacy sales) and Dimension tables (patient, doctor, department, time, disease, medication, hospital branch).</a:t>
            </a:r>
          </a:p>
          <a:p>
            <a:pPr marL="285750" indent="-285750" algn="l">
              <a:lnSpc>
                <a:spcPct val="100000"/>
              </a:lnSpc>
              <a:spcAft>
                <a:spcPts val="1400"/>
              </a:spcAft>
              <a:buFont typeface="Arial" pitchFamily="34" charset="0"/>
              <a:buChar char="•"/>
            </a:pPr>
            <a:r>
              <a:rPr lang="en-US" sz="1800" b="1" dirty="0">
                <a:latin typeface="Times New Roman" panose="02020603050405020304" pitchFamily="18" charset="0"/>
                <a:cs typeface="Times New Roman" panose="02020603050405020304" pitchFamily="18" charset="0"/>
              </a:rPr>
              <a:t>Analysis &amp; Reporting: </a:t>
            </a:r>
            <a:r>
              <a:rPr lang="en-US" sz="1800" dirty="0">
                <a:latin typeface="Times New Roman" panose="02020603050405020304" pitchFamily="18" charset="0"/>
                <a:cs typeface="Times New Roman" panose="02020603050405020304" pitchFamily="18" charset="0"/>
              </a:rPr>
              <a:t>Execute SQL queries on the warehouse to generate reports and analytical insights for hospital administrators.</a:t>
            </a:r>
          </a:p>
          <a:p>
            <a:pPr marL="0" indent="0" algn="ctr">
              <a:lnSpc>
                <a:spcPct val="100000"/>
              </a:lnSpc>
              <a:spcBef>
                <a:spcPts val="1600"/>
              </a:spcBef>
              <a:buNone/>
            </a:pPr>
            <a:r>
              <a:rPr lang="en-US" sz="1600" i="1" dirty="0">
                <a:latin typeface="Times New Roman" panose="02020603050405020304" pitchFamily="18" charset="0"/>
                <a:cs typeface="Times New Roman" panose="02020603050405020304" pitchFamily="18" charset="0"/>
              </a:rPr>
              <a:t>Flow: Hospital Systems → Extract → Clean &amp; Transform (ETL) → Star Schema Warehouse → SQL Queries / Reports → Decision Making</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206587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B634-9823-17E7-2F12-983DCF10ED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D838B5-00FA-D0E5-2DD0-ABE91BBA39B5}"/>
              </a:ext>
            </a:extLst>
          </p:cNvPr>
          <p:cNvSpPr txBox="1"/>
          <p:nvPr/>
        </p:nvSpPr>
        <p:spPr>
          <a:xfrm>
            <a:off x="594360" y="320040"/>
            <a:ext cx="4878259" cy="646331"/>
          </a:xfrm>
          <a:prstGeom prst="rect">
            <a:avLst/>
          </a:prstGeom>
          <a:noFill/>
        </p:spPr>
        <p:txBody>
          <a:bodyPr wrap="none">
            <a:spAutoFit/>
          </a:bodyPr>
          <a:lstStyle/>
          <a:p>
            <a:pPr>
              <a:defRPr sz="2800" b="1">
                <a:solidFill>
                  <a:srgbClr val="192D4B"/>
                </a:solidFill>
              </a:defRPr>
            </a:pPr>
            <a:r>
              <a:rPr lang="en-US" sz="3600" dirty="0">
                <a:latin typeface="Times New Roman" panose="02020603050405020304" pitchFamily="18" charset="0"/>
                <a:cs typeface="Times New Roman" panose="02020603050405020304" pitchFamily="18" charset="0"/>
              </a:rPr>
              <a:t>4</a:t>
            </a:r>
            <a:r>
              <a:rPr sz="3600"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Methodology(</a:t>
            </a:r>
            <a:r>
              <a:rPr lang="en-IN" sz="3600" b="1" dirty="0" err="1">
                <a:latin typeface="Times New Roman" panose="02020603050405020304" pitchFamily="18" charset="0"/>
                <a:cs typeface="Times New Roman" panose="02020603050405020304" pitchFamily="18" charset="0"/>
              </a:rPr>
              <a:t>cntd</a:t>
            </a:r>
            <a:r>
              <a:rPr lang="en-IN" sz="36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3BC9F90-E967-3AEF-C558-E959AFE8F7DC}"/>
              </a:ext>
            </a:extLst>
          </p:cNvPr>
          <p:cNvSpPr txBox="1"/>
          <p:nvPr/>
        </p:nvSpPr>
        <p:spPr>
          <a:xfrm>
            <a:off x="822960" y="1234440"/>
            <a:ext cx="10515600" cy="313932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1. What happens during ETL?</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Data is extracted from multiple hospital systems. </a:t>
            </a:r>
          </a:p>
          <a:p>
            <a:pPr lvl="0"/>
            <a:r>
              <a:rPr lang="en-US" dirty="0">
                <a:latin typeface="Times New Roman" panose="02020603050405020304" pitchFamily="18" charset="0"/>
                <a:cs typeface="Times New Roman" panose="02020603050405020304" pitchFamily="18" charset="0"/>
              </a:rPr>
              <a:t>Incorrect, duplicate, and incomplete records are cleaned. </a:t>
            </a:r>
          </a:p>
          <a:p>
            <a:pPr lvl="0"/>
            <a:r>
              <a:rPr lang="en-US" dirty="0">
                <a:latin typeface="Times New Roman" panose="02020603050405020304" pitchFamily="18" charset="0"/>
                <a:cs typeface="Times New Roman" panose="02020603050405020304" pitchFamily="18" charset="0"/>
              </a:rPr>
              <a:t>Data is transformed into a common format. </a:t>
            </a:r>
          </a:p>
          <a:p>
            <a:pPr lvl="0"/>
            <a:r>
              <a:rPr lang="en-US" dirty="0">
                <a:latin typeface="Times New Roman" panose="02020603050405020304" pitchFamily="18" charset="0"/>
                <a:cs typeface="Times New Roman" panose="02020603050405020304" pitchFamily="18" charset="0"/>
              </a:rPr>
              <a:t>The transformed data is loaded into the warehouse for analysis. </a:t>
            </a:r>
          </a:p>
          <a:p>
            <a:r>
              <a:rPr lang="en-US" b="1" dirty="0">
                <a:latin typeface="Times New Roman" panose="02020603050405020304" pitchFamily="18" charset="0"/>
                <a:cs typeface="Times New Roman" panose="02020603050405020304" pitchFamily="18" charset="0"/>
              </a:rPr>
              <a:t>2. Why use a Data Warehouse?</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Helps hospital management analyze healthcare operations. </a:t>
            </a:r>
          </a:p>
          <a:p>
            <a:pPr lvl="0"/>
            <a:r>
              <a:rPr lang="en-US" dirty="0">
                <a:latin typeface="Times New Roman" panose="02020603050405020304" pitchFamily="18" charset="0"/>
                <a:cs typeface="Times New Roman" panose="02020603050405020304" pitchFamily="18" charset="0"/>
              </a:rPr>
              <a:t>Improves reporting accuracy and decision-making. </a:t>
            </a:r>
          </a:p>
          <a:p>
            <a:pPr lvl="0"/>
            <a:r>
              <a:rPr lang="en-US" dirty="0">
                <a:latin typeface="Times New Roman" panose="02020603050405020304" pitchFamily="18" charset="0"/>
                <a:cs typeface="Times New Roman" panose="02020603050405020304" pitchFamily="18" charset="0"/>
              </a:rPr>
              <a:t>Stores historical data for future analysis. </a:t>
            </a:r>
          </a:p>
          <a:p>
            <a:pPr lvl="0"/>
            <a:r>
              <a:rPr lang="en-US" dirty="0">
                <a:latin typeface="Times New Roman" panose="02020603050405020304" pitchFamily="18" charset="0"/>
                <a:cs typeface="Times New Roman" panose="02020603050405020304" pitchFamily="18" charset="0"/>
              </a:rPr>
              <a:t>Supports Business Intelligence and dashboard creation. </a:t>
            </a:r>
          </a:p>
          <a:p>
            <a:pPr lvl="0"/>
            <a:r>
              <a:rPr lang="en-US" dirty="0">
                <a:latin typeface="Times New Roman" panose="02020603050405020304" pitchFamily="18" charset="0"/>
                <a:cs typeface="Times New Roman" panose="02020603050405020304" pitchFamily="18" charset="0"/>
              </a:rPr>
              <a:t>Provides faster access to integrated healthcare information. </a:t>
            </a:r>
          </a:p>
        </p:txBody>
      </p:sp>
      <p:sp>
        <p:nvSpPr>
          <p:cNvPr id="4" name="Rectangle 3">
            <a:extLst>
              <a:ext uri="{FF2B5EF4-FFF2-40B4-BE49-F238E27FC236}">
                <a16:creationId xmlns:a16="http://schemas.microsoft.com/office/drawing/2014/main" id="{065B92FA-F7D2-080F-7216-9DC7FC110F6E}"/>
              </a:ext>
            </a:extLst>
          </p:cNvPr>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467CFFF-3F93-0B54-BB25-1A64DE9A0BC6}"/>
              </a:ext>
            </a:extLst>
          </p:cNvPr>
          <p:cNvSpPr txBox="1"/>
          <p:nvPr/>
        </p:nvSpPr>
        <p:spPr>
          <a:xfrm>
            <a:off x="11461946" y="6446520"/>
            <a:ext cx="242374"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434112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7913641" cy="523220"/>
          </a:xfrm>
          <a:prstGeom prst="rect">
            <a:avLst/>
          </a:prstGeom>
          <a:noFill/>
        </p:spPr>
        <p:txBody>
          <a:bodyPr wrap="none">
            <a:spAutoFit/>
          </a:bodyPr>
          <a:lstStyle/>
          <a:p>
            <a:pPr>
              <a:defRPr sz="2800" b="1">
                <a:solidFill>
                  <a:srgbClr val="192D4B"/>
                </a:solidFill>
              </a:defRPr>
            </a:pPr>
            <a:r>
              <a:rPr dirty="0">
                <a:latin typeface="Times New Roman" panose="02020603050405020304" pitchFamily="18" charset="0"/>
                <a:cs typeface="Times New Roman" panose="02020603050405020304" pitchFamily="18" charset="0"/>
              </a:rPr>
              <a:t>Example: What Happens When a Patient Arrives?</a:t>
            </a:r>
          </a:p>
        </p:txBody>
      </p:sp>
      <p:sp>
        <p:nvSpPr>
          <p:cNvPr id="3" name="TextBox 2"/>
          <p:cNvSpPr txBox="1"/>
          <p:nvPr/>
        </p:nvSpPr>
        <p:spPr>
          <a:xfrm>
            <a:off x="822960" y="1143000"/>
            <a:ext cx="10515600" cy="2395528"/>
          </a:xfrm>
          <a:prstGeom prst="rect">
            <a:avLst/>
          </a:prstGeom>
          <a:noFill/>
        </p:spPr>
        <p:txBody>
          <a:bodyPr wrap="square">
            <a:spAutoFit/>
          </a:bodyPr>
          <a:lstStyle/>
          <a:p>
            <a:pPr>
              <a:spcAft>
                <a:spcPts val="1000"/>
              </a:spcAft>
              <a:defRPr sz="1800" b="0">
                <a:solidFill>
                  <a:srgbClr val="23282D"/>
                </a:solidFill>
              </a:defRPr>
            </a:pPr>
            <a:r>
              <a:rPr>
                <a:latin typeface="Times New Roman" panose="02020603050405020304" pitchFamily="18" charset="0"/>
                <a:cs typeface="Times New Roman" panose="02020603050405020304" pitchFamily="18" charset="0"/>
              </a:rPr>
              <a:t>1. Patient registration creates a new event.</a:t>
            </a:r>
          </a:p>
          <a:p>
            <a:pPr>
              <a:spcAft>
                <a:spcPts val="1000"/>
              </a:spcAft>
              <a:defRPr sz="1800" b="0">
                <a:solidFill>
                  <a:srgbClr val="23282D"/>
                </a:solidFill>
              </a:defRPr>
            </a:pPr>
            <a:r>
              <a:rPr>
                <a:latin typeface="Times New Roman" panose="02020603050405020304" pitchFamily="18" charset="0"/>
                <a:cs typeface="Times New Roman" panose="02020603050405020304" pitchFamily="18" charset="0"/>
              </a:rPr>
              <a:t>2. The event is published to a Kafka topic.</a:t>
            </a:r>
          </a:p>
          <a:p>
            <a:pPr>
              <a:spcAft>
                <a:spcPts val="1000"/>
              </a:spcAft>
              <a:defRPr sz="1800" b="0">
                <a:solidFill>
                  <a:srgbClr val="23282D"/>
                </a:solidFill>
              </a:defRPr>
            </a:pPr>
            <a:r>
              <a:rPr>
                <a:latin typeface="Times New Roman" panose="02020603050405020304" pitchFamily="18" charset="0"/>
                <a:cs typeface="Times New Roman" panose="02020603050405020304" pitchFamily="18" charset="0"/>
              </a:rPr>
              <a:t>3. Raw data is stored in HDFS.</a:t>
            </a:r>
          </a:p>
          <a:p>
            <a:pPr>
              <a:spcAft>
                <a:spcPts val="1000"/>
              </a:spcAft>
              <a:defRPr sz="1800" b="0">
                <a:solidFill>
                  <a:srgbClr val="23282D"/>
                </a:solidFill>
              </a:defRPr>
            </a:pPr>
            <a:r>
              <a:rPr>
                <a:latin typeface="Times New Roman" panose="02020603050405020304" pitchFamily="18" charset="0"/>
                <a:cs typeface="Times New Roman" panose="02020603050405020304" pitchFamily="18" charset="0"/>
              </a:rPr>
              <a:t>4. PySpark validates, cleans, and transforms the record.</a:t>
            </a:r>
          </a:p>
          <a:p>
            <a:pPr>
              <a:spcAft>
                <a:spcPts val="1000"/>
              </a:spcAft>
              <a:defRPr sz="1800" b="0">
                <a:solidFill>
                  <a:srgbClr val="23282D"/>
                </a:solidFill>
              </a:defRPr>
            </a:pPr>
            <a:r>
              <a:rPr>
                <a:latin typeface="Times New Roman" panose="02020603050405020304" pitchFamily="18" charset="0"/>
                <a:cs typeface="Times New Roman" panose="02020603050405020304" pitchFamily="18" charset="0"/>
              </a:rPr>
              <a:t>5. The processed record is loaded into the PostgreSQL warehouse.</a:t>
            </a:r>
          </a:p>
          <a:p>
            <a:pPr>
              <a:spcAft>
                <a:spcPts val="1000"/>
              </a:spcAft>
              <a:defRPr sz="1800" b="0">
                <a:solidFill>
                  <a:srgbClr val="23282D"/>
                </a:solidFill>
              </a:defRPr>
            </a:pPr>
            <a:r>
              <a:rPr>
                <a:latin typeface="Times New Roman" panose="02020603050405020304" pitchFamily="18" charset="0"/>
                <a:cs typeface="Times New Roman" panose="02020603050405020304" pitchFamily="18" charset="0"/>
              </a:rPr>
              <a:t>6. Power BI uses the warehouse for updated analytics.</a:t>
            </a:r>
          </a:p>
        </p:txBody>
      </p:sp>
      <p:sp>
        <p:nvSpPr>
          <p:cNvPr id="4" name="Rectangle 3"/>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11404238" y="6446520"/>
            <a:ext cx="300082"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2785955" cy="523220"/>
          </a:xfrm>
          <a:prstGeom prst="rect">
            <a:avLst/>
          </a:prstGeom>
          <a:noFill/>
        </p:spPr>
        <p:txBody>
          <a:bodyPr wrap="none">
            <a:spAutoFit/>
          </a:bodyPr>
          <a:lstStyle/>
          <a:p>
            <a:pPr>
              <a:defRPr sz="2800" b="1">
                <a:solidFill>
                  <a:srgbClr val="192D4B"/>
                </a:solidFill>
              </a:defRPr>
            </a:pPr>
            <a:r>
              <a:rPr dirty="0"/>
              <a:t> Role of Each Tool</a:t>
            </a:r>
          </a:p>
        </p:txBody>
      </p:sp>
      <p:graphicFrame>
        <p:nvGraphicFramePr>
          <p:cNvPr id="3" name="Table 2"/>
          <p:cNvGraphicFramePr>
            <a:graphicFrameLocks noGrp="1"/>
          </p:cNvGraphicFramePr>
          <p:nvPr/>
        </p:nvGraphicFramePr>
        <p:xfrm>
          <a:off x="914400" y="1325880"/>
          <a:ext cx="10332720" cy="448056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560070">
                <a:tc>
                  <a:txBody>
                    <a:bodyPr/>
                    <a:lstStyle/>
                    <a:p>
                      <a:pPr>
                        <a:defRPr sz="1500" b="1">
                          <a:solidFill>
                            <a:srgbClr val="FFFFFF"/>
                          </a:solidFill>
                        </a:defRPr>
                      </a:pPr>
                      <a:r>
                        <a:t>Tool</a:t>
                      </a:r>
                    </a:p>
                  </a:txBody>
                  <a:tcPr>
                    <a:solidFill>
                      <a:srgbClr val="192D4B"/>
                    </a:solidFill>
                  </a:tcPr>
                </a:tc>
                <a:tc>
                  <a:txBody>
                    <a:bodyPr/>
                    <a:lstStyle/>
                    <a:p>
                      <a:pPr>
                        <a:defRPr sz="1500" b="1">
                          <a:solidFill>
                            <a:srgbClr val="FFFFFF"/>
                          </a:solidFill>
                        </a:defRPr>
                      </a:pPr>
                      <a:r>
                        <a:t>Role</a:t>
                      </a:r>
                    </a:p>
                  </a:txBody>
                  <a:tcPr>
                    <a:solidFill>
                      <a:srgbClr val="192D4B"/>
                    </a:solidFill>
                  </a:tcPr>
                </a:tc>
                <a:extLst>
                  <a:ext uri="{0D108BD9-81ED-4DB2-BD59-A6C34878D82A}">
                    <a16:rowId xmlns:a16="http://schemas.microsoft.com/office/drawing/2014/main" val="10000"/>
                  </a:ext>
                </a:extLst>
              </a:tr>
              <a:tr h="560070">
                <a:tc>
                  <a:txBody>
                    <a:bodyPr/>
                    <a:lstStyle/>
                    <a:p>
                      <a:pPr>
                        <a:defRPr sz="1400">
                          <a:solidFill>
                            <a:srgbClr val="23282D"/>
                          </a:solidFill>
                        </a:defRPr>
                      </a:pPr>
                      <a:r>
                        <a:t>Python</a:t>
                      </a:r>
                    </a:p>
                  </a:txBody>
                  <a:tcPr>
                    <a:solidFill>
                      <a:srgbClr val="F1F5F9"/>
                    </a:solidFill>
                  </a:tcPr>
                </a:tc>
                <a:tc>
                  <a:txBody>
                    <a:bodyPr/>
                    <a:lstStyle/>
                    <a:p>
                      <a:pPr>
                        <a:defRPr sz="1400">
                          <a:solidFill>
                            <a:srgbClr val="23282D"/>
                          </a:solidFill>
                        </a:defRPr>
                      </a:pPr>
                      <a:r>
                        <a:t>Data generation and scripting</a:t>
                      </a:r>
                    </a:p>
                  </a:txBody>
                  <a:tcPr>
                    <a:solidFill>
                      <a:srgbClr val="F1F5F9"/>
                    </a:solidFill>
                  </a:tcPr>
                </a:tc>
                <a:extLst>
                  <a:ext uri="{0D108BD9-81ED-4DB2-BD59-A6C34878D82A}">
                    <a16:rowId xmlns:a16="http://schemas.microsoft.com/office/drawing/2014/main" val="10001"/>
                  </a:ext>
                </a:extLst>
              </a:tr>
              <a:tr h="560070">
                <a:tc>
                  <a:txBody>
                    <a:bodyPr/>
                    <a:lstStyle/>
                    <a:p>
                      <a:pPr>
                        <a:defRPr sz="1400">
                          <a:solidFill>
                            <a:srgbClr val="23282D"/>
                          </a:solidFill>
                        </a:defRPr>
                      </a:pPr>
                      <a:r>
                        <a:t>Apache Kafka</a:t>
                      </a:r>
                    </a:p>
                  </a:txBody>
                  <a:tcPr>
                    <a:solidFill>
                      <a:srgbClr val="F1F5F9"/>
                    </a:solidFill>
                  </a:tcPr>
                </a:tc>
                <a:tc>
                  <a:txBody>
                    <a:bodyPr/>
                    <a:lstStyle/>
                    <a:p>
                      <a:pPr>
                        <a:defRPr sz="1400">
                          <a:solidFill>
                            <a:srgbClr val="23282D"/>
                          </a:solidFill>
                        </a:defRPr>
                      </a:pPr>
                      <a:r>
                        <a:t>Real-time data ingestion / streaming</a:t>
                      </a:r>
                    </a:p>
                  </a:txBody>
                  <a:tcPr>
                    <a:solidFill>
                      <a:srgbClr val="F1F5F9"/>
                    </a:solidFill>
                  </a:tcPr>
                </a:tc>
                <a:extLst>
                  <a:ext uri="{0D108BD9-81ED-4DB2-BD59-A6C34878D82A}">
                    <a16:rowId xmlns:a16="http://schemas.microsoft.com/office/drawing/2014/main" val="10002"/>
                  </a:ext>
                </a:extLst>
              </a:tr>
              <a:tr h="560070">
                <a:tc>
                  <a:txBody>
                    <a:bodyPr/>
                    <a:lstStyle/>
                    <a:p>
                      <a:pPr>
                        <a:defRPr sz="1400">
                          <a:solidFill>
                            <a:srgbClr val="23282D"/>
                          </a:solidFill>
                        </a:defRPr>
                      </a:pPr>
                      <a:r>
                        <a:t>Hadoop HDFS</a:t>
                      </a:r>
                    </a:p>
                  </a:txBody>
                  <a:tcPr>
                    <a:solidFill>
                      <a:srgbClr val="F1F5F9"/>
                    </a:solidFill>
                  </a:tcPr>
                </a:tc>
                <a:tc>
                  <a:txBody>
                    <a:bodyPr/>
                    <a:lstStyle/>
                    <a:p>
                      <a:pPr>
                        <a:defRPr sz="1400">
                          <a:solidFill>
                            <a:srgbClr val="23282D"/>
                          </a:solidFill>
                        </a:defRPr>
                      </a:pPr>
                      <a:r>
                        <a:t>Distributed raw-data storage</a:t>
                      </a:r>
                    </a:p>
                  </a:txBody>
                  <a:tcPr>
                    <a:solidFill>
                      <a:srgbClr val="F1F5F9"/>
                    </a:solidFill>
                  </a:tcPr>
                </a:tc>
                <a:extLst>
                  <a:ext uri="{0D108BD9-81ED-4DB2-BD59-A6C34878D82A}">
                    <a16:rowId xmlns:a16="http://schemas.microsoft.com/office/drawing/2014/main" val="10003"/>
                  </a:ext>
                </a:extLst>
              </a:tr>
              <a:tr h="560070">
                <a:tc>
                  <a:txBody>
                    <a:bodyPr/>
                    <a:lstStyle/>
                    <a:p>
                      <a:pPr>
                        <a:defRPr sz="1400">
                          <a:solidFill>
                            <a:srgbClr val="23282D"/>
                          </a:solidFill>
                        </a:defRPr>
                      </a:pPr>
                      <a:r>
                        <a:t>Apache Spark / PySpark</a:t>
                      </a:r>
                    </a:p>
                  </a:txBody>
                  <a:tcPr>
                    <a:solidFill>
                      <a:srgbClr val="F1F5F9"/>
                    </a:solidFill>
                  </a:tcPr>
                </a:tc>
                <a:tc>
                  <a:txBody>
                    <a:bodyPr/>
                    <a:lstStyle/>
                    <a:p>
                      <a:pPr>
                        <a:defRPr sz="1400">
                          <a:solidFill>
                            <a:srgbClr val="23282D"/>
                          </a:solidFill>
                        </a:defRPr>
                      </a:pPr>
                      <a:r>
                        <a:t>Large-scale data processing and transformation</a:t>
                      </a:r>
                    </a:p>
                  </a:txBody>
                  <a:tcPr>
                    <a:solidFill>
                      <a:srgbClr val="F1F5F9"/>
                    </a:solidFill>
                  </a:tcPr>
                </a:tc>
                <a:extLst>
                  <a:ext uri="{0D108BD9-81ED-4DB2-BD59-A6C34878D82A}">
                    <a16:rowId xmlns:a16="http://schemas.microsoft.com/office/drawing/2014/main" val="10004"/>
                  </a:ext>
                </a:extLst>
              </a:tr>
              <a:tr h="560070">
                <a:tc>
                  <a:txBody>
                    <a:bodyPr/>
                    <a:lstStyle/>
                    <a:p>
                      <a:pPr>
                        <a:defRPr sz="1400">
                          <a:solidFill>
                            <a:srgbClr val="23282D"/>
                          </a:solidFill>
                        </a:defRPr>
                      </a:pPr>
                      <a:r>
                        <a:t>PostgreSQL</a:t>
                      </a:r>
                    </a:p>
                  </a:txBody>
                  <a:tcPr>
                    <a:solidFill>
                      <a:srgbClr val="F1F5F9"/>
                    </a:solidFill>
                  </a:tcPr>
                </a:tc>
                <a:tc>
                  <a:txBody>
                    <a:bodyPr/>
                    <a:lstStyle/>
                    <a:p>
                      <a:pPr>
                        <a:defRPr sz="1400">
                          <a:solidFill>
                            <a:srgbClr val="23282D"/>
                          </a:solidFill>
                        </a:defRPr>
                      </a:pPr>
                      <a:r>
                        <a:t>Data warehouse</a:t>
                      </a:r>
                    </a:p>
                  </a:txBody>
                  <a:tcPr>
                    <a:solidFill>
                      <a:srgbClr val="F1F5F9"/>
                    </a:solidFill>
                  </a:tcPr>
                </a:tc>
                <a:extLst>
                  <a:ext uri="{0D108BD9-81ED-4DB2-BD59-A6C34878D82A}">
                    <a16:rowId xmlns:a16="http://schemas.microsoft.com/office/drawing/2014/main" val="10005"/>
                  </a:ext>
                </a:extLst>
              </a:tr>
              <a:tr h="560070">
                <a:tc>
                  <a:txBody>
                    <a:bodyPr/>
                    <a:lstStyle/>
                    <a:p>
                      <a:pPr>
                        <a:defRPr sz="1400">
                          <a:solidFill>
                            <a:srgbClr val="23282D"/>
                          </a:solidFill>
                        </a:defRPr>
                      </a:pPr>
                      <a:r>
                        <a:t>Apache Airflow</a:t>
                      </a:r>
                    </a:p>
                  </a:txBody>
                  <a:tcPr>
                    <a:solidFill>
                      <a:srgbClr val="F1F5F9"/>
                    </a:solidFill>
                  </a:tcPr>
                </a:tc>
                <a:tc>
                  <a:txBody>
                    <a:bodyPr/>
                    <a:lstStyle/>
                    <a:p>
                      <a:pPr>
                        <a:defRPr sz="1400">
                          <a:solidFill>
                            <a:srgbClr val="23282D"/>
                          </a:solidFill>
                        </a:defRPr>
                      </a:pPr>
                      <a:r>
                        <a:t>Workflow orchestration and scheduling</a:t>
                      </a:r>
                    </a:p>
                  </a:txBody>
                  <a:tcPr>
                    <a:solidFill>
                      <a:srgbClr val="F1F5F9"/>
                    </a:solidFill>
                  </a:tcPr>
                </a:tc>
                <a:extLst>
                  <a:ext uri="{0D108BD9-81ED-4DB2-BD59-A6C34878D82A}">
                    <a16:rowId xmlns:a16="http://schemas.microsoft.com/office/drawing/2014/main" val="10006"/>
                  </a:ext>
                </a:extLst>
              </a:tr>
              <a:tr h="560070">
                <a:tc>
                  <a:txBody>
                    <a:bodyPr/>
                    <a:lstStyle/>
                    <a:p>
                      <a:pPr>
                        <a:defRPr sz="1400">
                          <a:solidFill>
                            <a:srgbClr val="23282D"/>
                          </a:solidFill>
                        </a:defRPr>
                      </a:pPr>
                      <a:r>
                        <a:t>Power BI</a:t>
                      </a:r>
                    </a:p>
                  </a:txBody>
                  <a:tcPr>
                    <a:solidFill>
                      <a:srgbClr val="F1F5F9"/>
                    </a:solidFill>
                  </a:tcPr>
                </a:tc>
                <a:tc>
                  <a:txBody>
                    <a:bodyPr/>
                    <a:lstStyle/>
                    <a:p>
                      <a:pPr>
                        <a:defRPr sz="1400">
                          <a:solidFill>
                            <a:srgbClr val="23282D"/>
                          </a:solidFill>
                        </a:defRPr>
                      </a:pPr>
                      <a:r>
                        <a:t>Visualization and reporting</a:t>
                      </a:r>
                    </a:p>
                  </a:txBody>
                  <a:tcPr>
                    <a:solidFill>
                      <a:srgbClr val="F1F5F9"/>
                    </a:solidFill>
                  </a:tcPr>
                </a:tc>
                <a:extLst>
                  <a:ext uri="{0D108BD9-81ED-4DB2-BD59-A6C34878D82A}">
                    <a16:rowId xmlns:a16="http://schemas.microsoft.com/office/drawing/2014/main" val="10007"/>
                  </a:ext>
                </a:extLst>
              </a:tr>
            </a:tbl>
          </a:graphicData>
        </a:graphic>
      </p:graphicFrame>
      <p:sp>
        <p:nvSpPr>
          <p:cNvPr id="4" name="Rectangle 3"/>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0" y="6446520"/>
            <a:ext cx="914400" cy="182880"/>
          </a:xfrm>
          <a:prstGeom prst="rect">
            <a:avLst/>
          </a:prstGeom>
          <a:noFill/>
        </p:spPr>
        <p:txBody>
          <a:bodyPr wrap="none">
            <a:spAutoFit/>
          </a:bodyPr>
          <a:lstStyle/>
          <a:p>
            <a:pPr algn="r">
              <a:defRPr sz="900">
                <a:solidFill>
                  <a:srgbClr val="192D4B"/>
                </a:solidFill>
              </a:defRPr>
            </a:pPr>
            <a:r>
              <a:t>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3932487" cy="523220"/>
          </a:xfrm>
          <a:prstGeom prst="rect">
            <a:avLst/>
          </a:prstGeom>
          <a:noFill/>
        </p:spPr>
        <p:txBody>
          <a:bodyPr wrap="none">
            <a:spAutoFit/>
          </a:bodyPr>
          <a:lstStyle/>
          <a:p>
            <a:pPr>
              <a:defRPr sz="2800" b="1">
                <a:solidFill>
                  <a:srgbClr val="192D4B"/>
                </a:solidFill>
              </a:defRPr>
            </a:pPr>
            <a:r>
              <a:rPr dirty="0">
                <a:latin typeface="Times New Roman" panose="02020603050405020304" pitchFamily="18" charset="0"/>
                <a:cs typeface="Times New Roman" panose="02020603050405020304" pitchFamily="18" charset="0"/>
              </a:rPr>
              <a:t>Key Learning Outcomes</a:t>
            </a:r>
          </a:p>
        </p:txBody>
      </p:sp>
      <p:sp>
        <p:nvSpPr>
          <p:cNvPr id="3" name="TextBox 2"/>
          <p:cNvSpPr txBox="1"/>
          <p:nvPr/>
        </p:nvSpPr>
        <p:spPr>
          <a:xfrm>
            <a:off x="822960" y="1371600"/>
            <a:ext cx="10515600" cy="3016210"/>
          </a:xfrm>
          <a:prstGeom prst="rect">
            <a:avLst/>
          </a:prstGeom>
          <a:noFill/>
        </p:spPr>
        <p:txBody>
          <a:bodyPr wrap="square">
            <a:spAutoFit/>
          </a:bodyPr>
          <a:lstStyle/>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Understand an end-to-end data engineering architecture.</a:t>
            </a:r>
          </a:p>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Learn how Kafka supports real-time data ingestion.</a:t>
            </a:r>
          </a:p>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Understand HDFS and distributed data storage concepts.</a:t>
            </a:r>
          </a:p>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Use Spark/PySpark for cleaning, joining, and transforming data.</a:t>
            </a:r>
          </a:p>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Design a dimensional data warehouse using a Star Schema.</a:t>
            </a:r>
          </a:p>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Automate workflows with Airflow.</a:t>
            </a:r>
          </a:p>
          <a:p>
            <a:pPr>
              <a:spcAft>
                <a:spcPts val="1000"/>
              </a:spcAft>
              <a:defRPr sz="2000" b="0">
                <a:solidFill>
                  <a:srgbClr val="23282D"/>
                </a:solidFill>
              </a:defRPr>
            </a:pPr>
            <a:r>
              <a:rPr>
                <a:latin typeface="Times New Roman" panose="02020603050405020304" pitchFamily="18" charset="0"/>
                <a:cs typeface="Times New Roman" panose="02020603050405020304" pitchFamily="18" charset="0"/>
              </a:rPr>
              <a:t>Build analytical dashboards from warehouse data.</a:t>
            </a:r>
          </a:p>
        </p:txBody>
      </p:sp>
      <p:sp>
        <p:nvSpPr>
          <p:cNvPr id="4" name="Rectangle 3"/>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11404238" y="6446520"/>
            <a:ext cx="300082"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901483" cy="523220"/>
          </a:xfrm>
          <a:prstGeom prst="rect">
            <a:avLst/>
          </a:prstGeom>
          <a:noFill/>
        </p:spPr>
        <p:txBody>
          <a:bodyPr wrap="none">
            <a:spAutoFit/>
          </a:bodyPr>
          <a:lstStyle/>
          <a:p>
            <a:pPr>
              <a:defRPr sz="2800" b="1">
                <a:solidFill>
                  <a:srgbClr val="192D4B"/>
                </a:solidFill>
              </a:defRPr>
            </a:pPr>
            <a:r>
              <a:rPr dirty="0">
                <a:latin typeface="Times New Roman" panose="02020603050405020304" pitchFamily="18" charset="0"/>
                <a:cs typeface="Times New Roman" panose="02020603050405020304" pitchFamily="18" charset="0"/>
              </a:rPr>
              <a:t>Conclusion</a:t>
            </a:r>
          </a:p>
        </p:txBody>
      </p:sp>
      <p:sp>
        <p:nvSpPr>
          <p:cNvPr id="3" name="TextBox 2"/>
          <p:cNvSpPr txBox="1"/>
          <p:nvPr/>
        </p:nvSpPr>
        <p:spPr>
          <a:xfrm>
            <a:off x="640080" y="859482"/>
            <a:ext cx="10149840"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expected outcome of this project is a centralized Hospital Data Warehouse that efficiently stores and integrates healthcare information from multiple hospital departments. The system enables accurate reporting, faster analytical queries, and improved decision-making for hospital administrators and healthcare professionals. By implementing ETL processes and dimensional data modeling, the warehouse maintains data consistency, reduces redundancy, and supports business intelligence applications. Overall, the project demonstrates how Fundamentals of Data Engineering can be applied to organize, manage, and analyze healthcare data effectively, improving operational efficiency and the quality of healthcare services.</a:t>
            </a:r>
          </a:p>
        </p:txBody>
      </p:sp>
      <p:sp>
        <p:nvSpPr>
          <p:cNvPr id="4" name="Rectangle 3"/>
          <p:cNvSpPr/>
          <p:nvPr/>
        </p:nvSpPr>
        <p:spPr>
          <a:xfrm>
            <a:off x="0" y="6629400"/>
            <a:ext cx="12191695" cy="228600"/>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11404238" y="6446520"/>
            <a:ext cx="300082" cy="230832"/>
          </a:xfrm>
          <a:prstGeom prst="rect">
            <a:avLst/>
          </a:prstGeom>
          <a:noFill/>
        </p:spPr>
        <p:txBody>
          <a:bodyPr wrap="none">
            <a:spAutoFit/>
          </a:bodyPr>
          <a:lstStyle/>
          <a:p>
            <a:pPr algn="r">
              <a:defRPr sz="900">
                <a:solidFill>
                  <a:srgbClr val="192D4B"/>
                </a:solidFill>
              </a:defRPr>
            </a:pPr>
            <a:r>
              <a:rPr>
                <a:latin typeface="Times New Roman" panose="02020603050405020304" pitchFamily="18" charset="0"/>
                <a:cs typeface="Times New Roman" panose="02020603050405020304" pitchFamily="18" charset="0"/>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1009</Words>
  <Application>Microsoft Office PowerPoint</Application>
  <PresentationFormat>Widescreen</PresentationFormat>
  <Paragraphs>101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Maheshwar Reddy</cp:lastModifiedBy>
  <cp:revision>8</cp:revision>
  <dcterms:created xsi:type="dcterms:W3CDTF">2013-01-27T09:14:16Z</dcterms:created>
  <dcterms:modified xsi:type="dcterms:W3CDTF">2026-09-05T04:56:16Z</dcterms:modified>
  <cp:category/>
</cp:coreProperties>
</file>